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6" r:id="rId5"/>
  </p:sldIdLst>
  <p:sldSz cx="420624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24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D6E03E"/>
    <a:srgbClr val="676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86B67-7E3F-5149-9598-4D25CC4DAE60}" v="57" dt="2024-04-10T03:36:57.494"/>
    <p1510:client id="{16CD5743-122B-2DAD-1FE3-E620723AC196}" v="53" dt="2024-04-10T03:24:47.503"/>
    <p1510:client id="{172B9970-3629-2D45-109F-EDC3D00DFAF7}" v="10" dt="2024-04-10T03:22:25.678"/>
    <p1510:client id="{44C4B640-52BE-A870-3830-0166F08E7250}" v="1005" dt="2024-04-10T01:33:49.441"/>
    <p1510:client id="{6DE91340-AAB0-414D-BFDC-EABA1F4C10CE}" v="1325" dt="2024-04-10T03:47:04.259"/>
    <p1510:client id="{8046B3ED-0BE3-7462-00B1-2C96A1AE7EBB}" v="68" dt="2024-04-10T01:41:10.411"/>
    <p1510:client id="{83165CC3-B31A-2462-B37F-64EEE8EE7E50}" v="387" dt="2024-04-09T23:20:25.605"/>
    <p1510:client id="{88C0160B-3CCE-4435-F2F2-F6A3FB87DD11}" v="756" dt="2024-04-10T01:55:40.393"/>
    <p1510:client id="{9AEF54E7-09E9-3CBB-2A39-6BABB2BEF143}" v="4" dt="2024-04-10T03:22:02.767"/>
    <p1510:client id="{A8CD92B3-8092-4D9A-3465-8F4C88ED9267}" v="137" dt="2024-04-10T02:36:18.422"/>
    <p1510:client id="{B32F9738-216A-D7DF-839B-B8D7398E6EBD}" v="1682" dt="2024-04-09T23:40:44.723"/>
    <p1510:client id="{F189513D-CD45-413F-8493-C86CB17F1C07}" v="1" dt="2024-04-10T03:51:46.889"/>
    <p1510:client id="{F400FF6D-7EEE-70EA-933B-DDACF5E31ADD}" v="6" dt="2024-04-09T18:49:02.335"/>
    <p1510:client id="{F59E2D90-3931-389A-3237-39AA89D6A125}" v="84" dt="2024-04-10T03:23:34.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25" d="100"/>
          <a:sy n="25" d="100"/>
        </p:scale>
        <p:origin x="1482" y="-582"/>
      </p:cViewPr>
      <p:guideLst>
        <p:guide orient="horz" pos="10368"/>
        <p:guide pos="13248"/>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ggy ." userId="60096fb47fd8b99a" providerId="LiveId" clId="{F189513D-CD45-413F-8493-C86CB17F1C07}"/>
    <pc:docChg chg="custSel modSld">
      <pc:chgData name="Iggy ." userId="60096fb47fd8b99a" providerId="LiveId" clId="{F189513D-CD45-413F-8493-C86CB17F1C07}" dt="2024-04-10T03:55:40.549" v="9" actId="14100"/>
      <pc:docMkLst>
        <pc:docMk/>
      </pc:docMkLst>
      <pc:sldChg chg="addSp delSp modSp mod">
        <pc:chgData name="Iggy ." userId="60096fb47fd8b99a" providerId="LiveId" clId="{F189513D-CD45-413F-8493-C86CB17F1C07}" dt="2024-04-10T03:55:40.549" v="9" actId="14100"/>
        <pc:sldMkLst>
          <pc:docMk/>
          <pc:sldMk cId="3064760845" sldId="256"/>
        </pc:sldMkLst>
        <pc:picChg chg="add mod">
          <ac:chgData name="Iggy ." userId="60096fb47fd8b99a" providerId="LiveId" clId="{F189513D-CD45-413F-8493-C86CB17F1C07}" dt="2024-04-10T03:55:40.549" v="9" actId="14100"/>
          <ac:picMkLst>
            <pc:docMk/>
            <pc:sldMk cId="3064760845" sldId="256"/>
            <ac:picMk id="6" creationId="{5DB3E55B-7EA1-3329-8C7F-9947D935C71E}"/>
          </ac:picMkLst>
        </pc:picChg>
        <pc:picChg chg="del">
          <ac:chgData name="Iggy ." userId="60096fb47fd8b99a" providerId="LiveId" clId="{F189513D-CD45-413F-8493-C86CB17F1C07}" dt="2024-04-10T03:55:16.728" v="4" actId="478"/>
          <ac:picMkLst>
            <pc:docMk/>
            <pc:sldMk cId="3064760845" sldId="256"/>
            <ac:picMk id="9" creationId="{4A5CC661-D14C-D5E9-CAA0-A8EDF584497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6A3A3A-F046-46B7-AB30-656DBACC10AF}" type="datetimeFigureOut">
              <a:rPr lang="en-US" smtClean="0"/>
              <a:t>4/9/2024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9AEF78C-8154-46C3-A304-1898F7DD4727}" type="slidenum">
              <a:rPr lang="en-US" smtClean="0"/>
              <a:t>‹#›</a:t>
            </a:fld>
            <a:endParaRPr lang="en-US"/>
          </a:p>
        </p:txBody>
      </p:sp>
    </p:spTree>
    <p:extLst>
      <p:ext uri="{BB962C8B-B14F-4D97-AF65-F5344CB8AC3E}">
        <p14:creationId xmlns:p14="http://schemas.microsoft.com/office/powerpoint/2010/main" val="1879476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AAEEF9-7578-433F-ACA7-67A4266BF312}" type="datetimeFigureOut">
              <a:rPr lang="en-US" smtClean="0"/>
              <a:t>4/9/2024</a:t>
            </a:fld>
            <a:endParaRPr lang="en-US"/>
          </a:p>
        </p:txBody>
      </p:sp>
      <p:sp>
        <p:nvSpPr>
          <p:cNvPr id="4" name="Slide Image Placeholder 3"/>
          <p:cNvSpPr>
            <a:spLocks noGrp="1" noRot="1" noChangeAspect="1"/>
          </p:cNvSpPr>
          <p:nvPr>
            <p:ph type="sldImg" idx="2"/>
          </p:nvPr>
        </p:nvSpPr>
        <p:spPr>
          <a:xfrm>
            <a:off x="1238250" y="685800"/>
            <a:ext cx="4381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E23624-96B6-4836-88C0-3931AE0DBC0A}" type="slidenum">
              <a:rPr lang="en-US" smtClean="0"/>
              <a:t>‹#›</a:t>
            </a:fld>
            <a:endParaRPr lang="en-US"/>
          </a:p>
        </p:txBody>
      </p:sp>
    </p:spTree>
    <p:extLst>
      <p:ext uri="{BB962C8B-B14F-4D97-AF65-F5344CB8AC3E}">
        <p14:creationId xmlns:p14="http://schemas.microsoft.com/office/powerpoint/2010/main" val="513956452"/>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10226042"/>
            <a:ext cx="35753040" cy="7056120"/>
          </a:xfrm>
        </p:spPr>
        <p:txBody>
          <a:bodyPr/>
          <a:lstStyle/>
          <a:p>
            <a:r>
              <a:rPr lang="en-US"/>
              <a:t>Click to edit Master title style</a:t>
            </a:r>
          </a:p>
        </p:txBody>
      </p:sp>
      <p:sp>
        <p:nvSpPr>
          <p:cNvPr id="3" name="Subtitle 2"/>
          <p:cNvSpPr>
            <a:spLocks noGrp="1"/>
          </p:cNvSpPr>
          <p:nvPr>
            <p:ph type="subTitle" idx="1"/>
          </p:nvPr>
        </p:nvSpPr>
        <p:spPr>
          <a:xfrm>
            <a:off x="6309360" y="18653760"/>
            <a:ext cx="29443680" cy="8412480"/>
          </a:xfrm>
        </p:spPr>
        <p:txBody>
          <a:bodyPr/>
          <a:lstStyle>
            <a:lvl1pPr marL="0" indent="0" algn="ctr">
              <a:buNone/>
              <a:defRPr>
                <a:solidFill>
                  <a:schemeClr val="tx1">
                    <a:tint val="75000"/>
                  </a:schemeClr>
                </a:solidFill>
              </a:defRPr>
            </a:lvl1pPr>
            <a:lvl2pPr marL="2103047" indent="0" algn="ctr">
              <a:buNone/>
              <a:defRPr>
                <a:solidFill>
                  <a:schemeClr val="tx1">
                    <a:tint val="75000"/>
                  </a:schemeClr>
                </a:solidFill>
              </a:defRPr>
            </a:lvl2pPr>
            <a:lvl3pPr marL="4206094" indent="0" algn="ctr">
              <a:buNone/>
              <a:defRPr>
                <a:solidFill>
                  <a:schemeClr val="tx1">
                    <a:tint val="75000"/>
                  </a:schemeClr>
                </a:solidFill>
              </a:defRPr>
            </a:lvl3pPr>
            <a:lvl4pPr marL="6309141" indent="0" algn="ctr">
              <a:buNone/>
              <a:defRPr>
                <a:solidFill>
                  <a:schemeClr val="tx1">
                    <a:tint val="75000"/>
                  </a:schemeClr>
                </a:solidFill>
              </a:defRPr>
            </a:lvl4pPr>
            <a:lvl5pPr marL="8412187" indent="0" algn="ctr">
              <a:buNone/>
              <a:defRPr>
                <a:solidFill>
                  <a:schemeClr val="tx1">
                    <a:tint val="75000"/>
                  </a:schemeClr>
                </a:solidFill>
              </a:defRPr>
            </a:lvl5pPr>
            <a:lvl6pPr marL="10515234" indent="0" algn="ctr">
              <a:buNone/>
              <a:defRPr>
                <a:solidFill>
                  <a:schemeClr val="tx1">
                    <a:tint val="75000"/>
                  </a:schemeClr>
                </a:solidFill>
              </a:defRPr>
            </a:lvl6pPr>
            <a:lvl7pPr marL="12618281" indent="0" algn="ctr">
              <a:buNone/>
              <a:defRPr>
                <a:solidFill>
                  <a:schemeClr val="tx1">
                    <a:tint val="75000"/>
                  </a:schemeClr>
                </a:solidFill>
              </a:defRPr>
            </a:lvl7pPr>
            <a:lvl8pPr marL="14721328" indent="0" algn="ctr">
              <a:buNone/>
              <a:defRPr>
                <a:solidFill>
                  <a:schemeClr val="tx1">
                    <a:tint val="75000"/>
                  </a:schemeClr>
                </a:solidFill>
              </a:defRPr>
            </a:lvl8pPr>
            <a:lvl9pPr marL="168243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E1524C-2386-4A77-AA3F-47DF77D98E67}"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
        <p:nvSpPr>
          <p:cNvPr id="7" name="Rectangle 6">
            <a:extLst>
              <a:ext uri="{FF2B5EF4-FFF2-40B4-BE49-F238E27FC236}">
                <a16:creationId xmlns:a16="http://schemas.microsoft.com/office/drawing/2014/main" id="{F5903872-9004-B642-BC40-28308312DE72}"/>
              </a:ext>
            </a:extLst>
          </p:cNvPr>
          <p:cNvSpPr/>
          <p:nvPr userDrawn="1"/>
        </p:nvSpPr>
        <p:spPr>
          <a:xfrm>
            <a:off x="0" y="-76200"/>
            <a:ext cx="42062400" cy="3200400"/>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F99F87-202D-7E4A-82CF-5C9A77BFE3E1}"/>
              </a:ext>
            </a:extLst>
          </p:cNvPr>
          <p:cNvPicPr>
            <a:picLocks noChangeAspect="1"/>
          </p:cNvPicPr>
          <p:nvPr userDrawn="1"/>
        </p:nvPicPr>
        <p:blipFill>
          <a:blip r:embed="rId2"/>
          <a:stretch>
            <a:fillRect/>
          </a:stretch>
        </p:blipFill>
        <p:spPr>
          <a:xfrm>
            <a:off x="1239520" y="996604"/>
            <a:ext cx="10139680" cy="1422372"/>
          </a:xfrm>
          <a:prstGeom prst="rect">
            <a:avLst/>
          </a:prstGeom>
        </p:spPr>
      </p:pic>
      <p:pic>
        <p:nvPicPr>
          <p:cNvPr id="9" name="Picture 8">
            <a:extLst>
              <a:ext uri="{FF2B5EF4-FFF2-40B4-BE49-F238E27FC236}">
                <a16:creationId xmlns:a16="http://schemas.microsoft.com/office/drawing/2014/main" id="{EA2CAD84-D99F-3748-AF2C-8B1FE58D1D6D}"/>
              </a:ext>
            </a:extLst>
          </p:cNvPr>
          <p:cNvPicPr>
            <a:picLocks noChangeAspect="1"/>
          </p:cNvPicPr>
          <p:nvPr userDrawn="1"/>
        </p:nvPicPr>
        <p:blipFill>
          <a:blip r:embed="rId3"/>
          <a:stretch>
            <a:fillRect/>
          </a:stretch>
        </p:blipFill>
        <p:spPr>
          <a:xfrm>
            <a:off x="28651200" y="1197942"/>
            <a:ext cx="11684000" cy="1019695"/>
          </a:xfrm>
          <a:prstGeom prst="rect">
            <a:avLst/>
          </a:prstGeom>
        </p:spPr>
      </p:pic>
    </p:spTree>
    <p:extLst>
      <p:ext uri="{BB962C8B-B14F-4D97-AF65-F5344CB8AC3E}">
        <p14:creationId xmlns:p14="http://schemas.microsoft.com/office/powerpoint/2010/main" val="9940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3120" y="3048000"/>
            <a:ext cx="37856160" cy="375666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96338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22640" y="21153122"/>
            <a:ext cx="35753040" cy="6537960"/>
          </a:xfrm>
        </p:spPr>
        <p:txBody>
          <a:bodyPr anchor="t"/>
          <a:lstStyle>
            <a:lvl1pPr algn="l">
              <a:defRPr sz="18399" b="1" cap="all"/>
            </a:lvl1pPr>
          </a:lstStyle>
          <a:p>
            <a:r>
              <a:rPr lang="en-US"/>
              <a:t>Click to edit Master title style</a:t>
            </a:r>
          </a:p>
        </p:txBody>
      </p:sp>
      <p:sp>
        <p:nvSpPr>
          <p:cNvPr id="3" name="Text Placeholder 2"/>
          <p:cNvSpPr>
            <a:spLocks noGrp="1"/>
          </p:cNvSpPr>
          <p:nvPr>
            <p:ph type="body" idx="1"/>
          </p:nvPr>
        </p:nvSpPr>
        <p:spPr>
          <a:xfrm>
            <a:off x="3322640" y="13952226"/>
            <a:ext cx="35753040" cy="7200898"/>
          </a:xfrm>
        </p:spPr>
        <p:txBody>
          <a:bodyPr anchor="b"/>
          <a:lstStyle>
            <a:lvl1pPr marL="0" indent="0">
              <a:buNone/>
              <a:defRPr sz="9200">
                <a:solidFill>
                  <a:schemeClr val="tx1">
                    <a:tint val="75000"/>
                  </a:schemeClr>
                </a:solidFill>
              </a:defRPr>
            </a:lvl1pPr>
            <a:lvl2pPr marL="2103047" indent="0">
              <a:buNone/>
              <a:defRPr sz="8241">
                <a:solidFill>
                  <a:schemeClr val="tx1">
                    <a:tint val="75000"/>
                  </a:schemeClr>
                </a:solidFill>
              </a:defRPr>
            </a:lvl2pPr>
            <a:lvl3pPr marL="4206094" indent="0">
              <a:buNone/>
              <a:defRPr sz="7379">
                <a:solidFill>
                  <a:schemeClr val="tx1">
                    <a:tint val="75000"/>
                  </a:schemeClr>
                </a:solidFill>
              </a:defRPr>
            </a:lvl3pPr>
            <a:lvl4pPr marL="6309141" indent="0">
              <a:buNone/>
              <a:defRPr sz="6421">
                <a:solidFill>
                  <a:schemeClr val="tx1">
                    <a:tint val="75000"/>
                  </a:schemeClr>
                </a:solidFill>
              </a:defRPr>
            </a:lvl4pPr>
            <a:lvl5pPr marL="8412187" indent="0">
              <a:buNone/>
              <a:defRPr sz="6421">
                <a:solidFill>
                  <a:schemeClr val="tx1">
                    <a:tint val="75000"/>
                  </a:schemeClr>
                </a:solidFill>
              </a:defRPr>
            </a:lvl5pPr>
            <a:lvl6pPr marL="10515234" indent="0">
              <a:buNone/>
              <a:defRPr sz="6421">
                <a:solidFill>
                  <a:schemeClr val="tx1">
                    <a:tint val="75000"/>
                  </a:schemeClr>
                </a:solidFill>
              </a:defRPr>
            </a:lvl6pPr>
            <a:lvl7pPr marL="12618281" indent="0">
              <a:buNone/>
              <a:defRPr sz="6421">
                <a:solidFill>
                  <a:schemeClr val="tx1">
                    <a:tint val="75000"/>
                  </a:schemeClr>
                </a:solidFill>
              </a:defRPr>
            </a:lvl7pPr>
            <a:lvl8pPr marL="14721328" indent="0">
              <a:buNone/>
              <a:defRPr sz="6421">
                <a:solidFill>
                  <a:schemeClr val="tx1">
                    <a:tint val="75000"/>
                  </a:schemeClr>
                </a:solidFill>
              </a:defRPr>
            </a:lvl8pPr>
            <a:lvl9pPr marL="16824375" indent="0">
              <a:buNone/>
              <a:defRPr sz="642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E1524C-2386-4A77-AA3F-47DF77D98E67}"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77649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031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3817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E1524C-2386-4A77-AA3F-47DF77D98E67}"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62457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03123" y="7368543"/>
            <a:ext cx="185848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4" name="Content Placeholder 3"/>
          <p:cNvSpPr>
            <a:spLocks noGrp="1"/>
          </p:cNvSpPr>
          <p:nvPr>
            <p:ph sz="half" idx="2"/>
          </p:nvPr>
        </p:nvSpPr>
        <p:spPr>
          <a:xfrm>
            <a:off x="2103123" y="10439401"/>
            <a:ext cx="185848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367118" y="7368543"/>
            <a:ext cx="185921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6" name="Content Placeholder 5"/>
          <p:cNvSpPr>
            <a:spLocks noGrp="1"/>
          </p:cNvSpPr>
          <p:nvPr>
            <p:ph sz="quarter" idx="4"/>
          </p:nvPr>
        </p:nvSpPr>
        <p:spPr>
          <a:xfrm>
            <a:off x="21367118" y="10439401"/>
            <a:ext cx="185921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E1524C-2386-4A77-AA3F-47DF77D98E67}" type="datetimeFigureOut">
              <a:rPr lang="en-US" smtClean="0"/>
              <a:t>4/9/2024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231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E1524C-2386-4A77-AA3F-47DF77D98E67}" type="datetimeFigureOut">
              <a:rPr lang="en-US" smtClean="0"/>
              <a:t>4/9/2024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19476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E1524C-2386-4A77-AA3F-47DF77D98E67}" type="datetimeFigureOut">
              <a:rPr lang="en-US" smtClean="0"/>
              <a:t>4/9/2024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40443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3125" y="1310640"/>
            <a:ext cx="13838240" cy="5577840"/>
          </a:xfrm>
        </p:spPr>
        <p:txBody>
          <a:bodyPr anchor="b"/>
          <a:lstStyle>
            <a:lvl1pPr algn="l">
              <a:defRPr sz="9200" b="1"/>
            </a:lvl1pPr>
          </a:lstStyle>
          <a:p>
            <a:r>
              <a:rPr lang="en-US"/>
              <a:t>Click to edit Master title style</a:t>
            </a:r>
          </a:p>
        </p:txBody>
      </p:sp>
      <p:sp>
        <p:nvSpPr>
          <p:cNvPr id="3" name="Content Placeholder 2"/>
          <p:cNvSpPr>
            <a:spLocks noGrp="1"/>
          </p:cNvSpPr>
          <p:nvPr>
            <p:ph idx="1"/>
          </p:nvPr>
        </p:nvSpPr>
        <p:spPr>
          <a:xfrm>
            <a:off x="16445230" y="1310644"/>
            <a:ext cx="23514050" cy="28094942"/>
          </a:xfrm>
        </p:spPr>
        <p:txBody>
          <a:bodyPr/>
          <a:lstStyle>
            <a:lvl1pPr>
              <a:defRPr sz="14758"/>
            </a:lvl1pPr>
            <a:lvl2pPr>
              <a:defRPr sz="12841"/>
            </a:lvl2pPr>
            <a:lvl3pPr>
              <a:defRPr sz="1102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03125" y="6888484"/>
            <a:ext cx="13838240" cy="22517102"/>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1134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44525" y="23042881"/>
            <a:ext cx="25237440" cy="2720342"/>
          </a:xfrm>
        </p:spPr>
        <p:txBody>
          <a:bodyPr anchor="b"/>
          <a:lstStyle>
            <a:lvl1pPr algn="l">
              <a:defRPr sz="9200" b="1"/>
            </a:lvl1pPr>
          </a:lstStyle>
          <a:p>
            <a:r>
              <a:rPr lang="en-US"/>
              <a:t>Click to edit Master title style</a:t>
            </a:r>
          </a:p>
        </p:txBody>
      </p:sp>
      <p:sp>
        <p:nvSpPr>
          <p:cNvPr id="3" name="Picture Placeholder 2"/>
          <p:cNvSpPr>
            <a:spLocks noGrp="1"/>
          </p:cNvSpPr>
          <p:nvPr>
            <p:ph type="pic" idx="1"/>
          </p:nvPr>
        </p:nvSpPr>
        <p:spPr>
          <a:xfrm>
            <a:off x="8244525" y="2941320"/>
            <a:ext cx="25237440" cy="19751040"/>
          </a:xfrm>
        </p:spPr>
        <p:txBody>
          <a:bodyPr/>
          <a:lstStyle>
            <a:lvl1pPr marL="0" indent="0">
              <a:buNone/>
              <a:defRPr sz="14758"/>
            </a:lvl1pPr>
            <a:lvl2pPr marL="2103047" indent="0">
              <a:buNone/>
              <a:defRPr sz="12841"/>
            </a:lvl2pPr>
            <a:lvl3pPr marL="4206094" indent="0">
              <a:buNone/>
              <a:defRPr sz="11020"/>
            </a:lvl3pPr>
            <a:lvl4pPr marL="6309141" indent="0">
              <a:buNone/>
              <a:defRPr sz="9200"/>
            </a:lvl4pPr>
            <a:lvl5pPr marL="8412187" indent="0">
              <a:buNone/>
              <a:defRPr sz="9200"/>
            </a:lvl5pPr>
            <a:lvl6pPr marL="10515234" indent="0">
              <a:buNone/>
              <a:defRPr sz="9200"/>
            </a:lvl6pPr>
            <a:lvl7pPr marL="12618281" indent="0">
              <a:buNone/>
              <a:defRPr sz="9200"/>
            </a:lvl7pPr>
            <a:lvl8pPr marL="14721328" indent="0">
              <a:buNone/>
              <a:defRPr sz="9200"/>
            </a:lvl8pPr>
            <a:lvl9pPr marL="16824375" indent="0">
              <a:buNone/>
              <a:defRPr sz="9200"/>
            </a:lvl9pPr>
          </a:lstStyle>
          <a:p>
            <a:endParaRPr lang="en-US"/>
          </a:p>
        </p:txBody>
      </p:sp>
      <p:sp>
        <p:nvSpPr>
          <p:cNvPr id="4" name="Text Placeholder 3"/>
          <p:cNvSpPr>
            <a:spLocks noGrp="1"/>
          </p:cNvSpPr>
          <p:nvPr>
            <p:ph type="body" sz="half" idx="2"/>
          </p:nvPr>
        </p:nvSpPr>
        <p:spPr>
          <a:xfrm>
            <a:off x="8244525" y="25763223"/>
            <a:ext cx="25237440" cy="3863338"/>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02462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8256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495240" y="1318265"/>
            <a:ext cx="946404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03120" y="1318265"/>
            <a:ext cx="2769108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89900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03120" y="1318262"/>
            <a:ext cx="3785616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03120" y="7680964"/>
            <a:ext cx="3785616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03120" y="30510482"/>
            <a:ext cx="9814560" cy="1752600"/>
          </a:xfrm>
          <a:prstGeom prst="rect">
            <a:avLst/>
          </a:prstGeom>
        </p:spPr>
        <p:txBody>
          <a:bodyPr vert="horz" lIns="438912" tIns="219456" rIns="438912" bIns="219456" rtlCol="0" anchor="ctr"/>
          <a:lstStyle>
            <a:lvl1pPr algn="l">
              <a:defRPr sz="5558">
                <a:solidFill>
                  <a:schemeClr val="tx1">
                    <a:tint val="75000"/>
                  </a:schemeClr>
                </a:solidFill>
              </a:defRPr>
            </a:lvl1pPr>
          </a:lstStyle>
          <a:p>
            <a:fld id="{24E1524C-2386-4A77-AA3F-47DF77D98E67}" type="datetimeFigureOut">
              <a:rPr lang="en-US" smtClean="0"/>
              <a:t>4/9/2024</a:t>
            </a:fld>
            <a:endParaRPr lang="en-US"/>
          </a:p>
        </p:txBody>
      </p:sp>
      <p:sp>
        <p:nvSpPr>
          <p:cNvPr id="5" name="Footer Placeholder 4"/>
          <p:cNvSpPr>
            <a:spLocks noGrp="1"/>
          </p:cNvSpPr>
          <p:nvPr>
            <p:ph type="ftr" sz="quarter" idx="3"/>
          </p:nvPr>
        </p:nvSpPr>
        <p:spPr>
          <a:xfrm>
            <a:off x="14371320" y="30510482"/>
            <a:ext cx="13319760" cy="1752600"/>
          </a:xfrm>
          <a:prstGeom prst="rect">
            <a:avLst/>
          </a:prstGeom>
        </p:spPr>
        <p:txBody>
          <a:bodyPr vert="horz" lIns="438912" tIns="219456" rIns="438912" bIns="219456" rtlCol="0" anchor="ctr"/>
          <a:lstStyle>
            <a:lvl1pPr algn="ctr">
              <a:defRPr sz="555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144720" y="30510482"/>
            <a:ext cx="9814560" cy="1752600"/>
          </a:xfrm>
          <a:prstGeom prst="rect">
            <a:avLst/>
          </a:prstGeom>
        </p:spPr>
        <p:txBody>
          <a:bodyPr vert="horz" lIns="438912" tIns="219456" rIns="438912" bIns="219456" rtlCol="0" anchor="ctr"/>
          <a:lstStyle>
            <a:lvl1pPr algn="r">
              <a:defRPr sz="5558">
                <a:solidFill>
                  <a:schemeClr val="tx1">
                    <a:tint val="75000"/>
                  </a:schemeClr>
                </a:solidFill>
              </a:defRPr>
            </a:lvl1pPr>
          </a:lstStyle>
          <a:p>
            <a:fld id="{47C0857A-08FC-4098-8B90-E25E1691C69A}" type="slidenum">
              <a:rPr lang="en-US" smtClean="0"/>
              <a:t>‹#›</a:t>
            </a:fld>
            <a:endParaRPr lang="en-US"/>
          </a:p>
        </p:txBody>
      </p:sp>
      <p:sp>
        <p:nvSpPr>
          <p:cNvPr id="7" name="Rectangle 6"/>
          <p:cNvSpPr/>
          <p:nvPr userDrawn="1"/>
        </p:nvSpPr>
        <p:spPr>
          <a:xfrm>
            <a:off x="0" y="-8022"/>
            <a:ext cx="42062400" cy="30861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41"/>
          </a:p>
        </p:txBody>
      </p:sp>
      <p:pic>
        <p:nvPicPr>
          <p:cNvPr id="19" name="Picture 18">
            <a:extLst>
              <a:ext uri="{FF2B5EF4-FFF2-40B4-BE49-F238E27FC236}">
                <a16:creationId xmlns:a16="http://schemas.microsoft.com/office/drawing/2014/main" id="{47613778-1994-7F4E-957C-2C13E92676E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1175" y="-674973"/>
            <a:ext cx="13875165" cy="5354722"/>
          </a:xfrm>
          <a:prstGeom prst="rect">
            <a:avLst/>
          </a:prstGeom>
        </p:spPr>
      </p:pic>
      <p:pic>
        <p:nvPicPr>
          <p:cNvPr id="21" name="Picture 20">
            <a:extLst>
              <a:ext uri="{FF2B5EF4-FFF2-40B4-BE49-F238E27FC236}">
                <a16:creationId xmlns:a16="http://schemas.microsoft.com/office/drawing/2014/main" id="{783D97CA-2D64-7045-A598-731D03607CF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4463375" y="1066801"/>
            <a:ext cx="16007080" cy="1434099"/>
          </a:xfrm>
          <a:prstGeom prst="rect">
            <a:avLst/>
          </a:prstGeom>
        </p:spPr>
      </p:pic>
    </p:spTree>
    <p:extLst>
      <p:ext uri="{BB962C8B-B14F-4D97-AF65-F5344CB8AC3E}">
        <p14:creationId xmlns:p14="http://schemas.microsoft.com/office/powerpoint/2010/main" val="119043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06094" rtl="0" eaLnBrk="1" latinLnBrk="0" hangingPunct="1">
        <a:spcBef>
          <a:spcPct val="0"/>
        </a:spcBef>
        <a:buNone/>
        <a:defRPr sz="20220" kern="1200">
          <a:solidFill>
            <a:schemeClr val="tx1"/>
          </a:solidFill>
          <a:latin typeface="+mj-lt"/>
          <a:ea typeface="+mj-ea"/>
          <a:cs typeface="+mj-cs"/>
        </a:defRPr>
      </a:lvl1pPr>
    </p:titleStyle>
    <p:bodyStyle>
      <a:lvl1pPr marL="1577285" indent="-1577285" algn="l" defTabSz="4206094" rtl="0" eaLnBrk="1" latinLnBrk="0" hangingPunct="1">
        <a:spcBef>
          <a:spcPct val="20000"/>
        </a:spcBef>
        <a:buFont typeface="Arial" pitchFamily="34" charset="0"/>
        <a:buChar char="•"/>
        <a:defRPr sz="14758" kern="1200">
          <a:solidFill>
            <a:schemeClr val="tx1"/>
          </a:solidFill>
          <a:latin typeface="+mn-lt"/>
          <a:ea typeface="+mn-ea"/>
          <a:cs typeface="+mn-cs"/>
        </a:defRPr>
      </a:lvl1pPr>
      <a:lvl2pPr marL="3417451" indent="-1314404" algn="l" defTabSz="4206094" rtl="0" eaLnBrk="1" latinLnBrk="0" hangingPunct="1">
        <a:spcBef>
          <a:spcPct val="20000"/>
        </a:spcBef>
        <a:buFont typeface="Arial" pitchFamily="34" charset="0"/>
        <a:buChar char="–"/>
        <a:defRPr sz="12841" kern="1200">
          <a:solidFill>
            <a:schemeClr val="tx1"/>
          </a:solidFill>
          <a:latin typeface="+mn-lt"/>
          <a:ea typeface="+mn-ea"/>
          <a:cs typeface="+mn-cs"/>
        </a:defRPr>
      </a:lvl2pPr>
      <a:lvl3pPr marL="5257617" indent="-1051523" algn="l" defTabSz="4206094" rtl="0" eaLnBrk="1" latinLnBrk="0" hangingPunct="1">
        <a:spcBef>
          <a:spcPct val="20000"/>
        </a:spcBef>
        <a:buFont typeface="Arial" pitchFamily="34" charset="0"/>
        <a:buChar char="•"/>
        <a:defRPr sz="11020" kern="1200">
          <a:solidFill>
            <a:schemeClr val="tx1"/>
          </a:solidFill>
          <a:latin typeface="+mn-lt"/>
          <a:ea typeface="+mn-ea"/>
          <a:cs typeface="+mn-cs"/>
        </a:defRPr>
      </a:lvl3pPr>
      <a:lvl4pPr marL="7360664"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46371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56675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669805"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77285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87589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en-US"/>
      </a:defPPr>
      <a:lvl1pPr marL="0" algn="l" defTabSz="4206094" rtl="0" eaLnBrk="1" latinLnBrk="0" hangingPunct="1">
        <a:defRPr sz="8241" kern="1200">
          <a:solidFill>
            <a:schemeClr val="tx1"/>
          </a:solidFill>
          <a:latin typeface="+mn-lt"/>
          <a:ea typeface="+mn-ea"/>
          <a:cs typeface="+mn-cs"/>
        </a:defRPr>
      </a:lvl1pPr>
      <a:lvl2pPr marL="2103047" algn="l" defTabSz="4206094" rtl="0" eaLnBrk="1" latinLnBrk="0" hangingPunct="1">
        <a:defRPr sz="8241" kern="1200">
          <a:solidFill>
            <a:schemeClr val="tx1"/>
          </a:solidFill>
          <a:latin typeface="+mn-lt"/>
          <a:ea typeface="+mn-ea"/>
          <a:cs typeface="+mn-cs"/>
        </a:defRPr>
      </a:lvl2pPr>
      <a:lvl3pPr marL="4206094" algn="l" defTabSz="4206094" rtl="0" eaLnBrk="1" latinLnBrk="0" hangingPunct="1">
        <a:defRPr sz="8241" kern="1200">
          <a:solidFill>
            <a:schemeClr val="tx1"/>
          </a:solidFill>
          <a:latin typeface="+mn-lt"/>
          <a:ea typeface="+mn-ea"/>
          <a:cs typeface="+mn-cs"/>
        </a:defRPr>
      </a:lvl3pPr>
      <a:lvl4pPr marL="6309141" algn="l" defTabSz="4206094" rtl="0" eaLnBrk="1" latinLnBrk="0" hangingPunct="1">
        <a:defRPr sz="8241" kern="1200">
          <a:solidFill>
            <a:schemeClr val="tx1"/>
          </a:solidFill>
          <a:latin typeface="+mn-lt"/>
          <a:ea typeface="+mn-ea"/>
          <a:cs typeface="+mn-cs"/>
        </a:defRPr>
      </a:lvl4pPr>
      <a:lvl5pPr marL="8412187" algn="l" defTabSz="4206094" rtl="0" eaLnBrk="1" latinLnBrk="0" hangingPunct="1">
        <a:defRPr sz="8241" kern="1200">
          <a:solidFill>
            <a:schemeClr val="tx1"/>
          </a:solidFill>
          <a:latin typeface="+mn-lt"/>
          <a:ea typeface="+mn-ea"/>
          <a:cs typeface="+mn-cs"/>
        </a:defRPr>
      </a:lvl5pPr>
      <a:lvl6pPr marL="10515234" algn="l" defTabSz="4206094" rtl="0" eaLnBrk="1" latinLnBrk="0" hangingPunct="1">
        <a:defRPr sz="8241" kern="1200">
          <a:solidFill>
            <a:schemeClr val="tx1"/>
          </a:solidFill>
          <a:latin typeface="+mn-lt"/>
          <a:ea typeface="+mn-ea"/>
          <a:cs typeface="+mn-cs"/>
        </a:defRPr>
      </a:lvl6pPr>
      <a:lvl7pPr marL="12618281" algn="l" defTabSz="4206094" rtl="0" eaLnBrk="1" latinLnBrk="0" hangingPunct="1">
        <a:defRPr sz="8241" kern="1200">
          <a:solidFill>
            <a:schemeClr val="tx1"/>
          </a:solidFill>
          <a:latin typeface="+mn-lt"/>
          <a:ea typeface="+mn-ea"/>
          <a:cs typeface="+mn-cs"/>
        </a:defRPr>
      </a:lvl7pPr>
      <a:lvl8pPr marL="14721328" algn="l" defTabSz="4206094" rtl="0" eaLnBrk="1" latinLnBrk="0" hangingPunct="1">
        <a:defRPr sz="8241" kern="1200">
          <a:solidFill>
            <a:schemeClr val="tx1"/>
          </a:solidFill>
          <a:latin typeface="+mn-lt"/>
          <a:ea typeface="+mn-ea"/>
          <a:cs typeface="+mn-cs"/>
        </a:defRPr>
      </a:lvl8pPr>
      <a:lvl9pPr marL="16824375" algn="l" defTabSz="4206094" rtl="0" eaLnBrk="1" latinLnBrk="0" hangingPunct="1">
        <a:defRPr sz="8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648530" y="37890"/>
            <a:ext cx="14112353" cy="3231654"/>
          </a:xfrm>
          <a:prstGeom prst="rect">
            <a:avLst/>
          </a:prstGeom>
          <a:noFill/>
        </p:spPr>
        <p:txBody>
          <a:bodyPr wrap="square" lIns="91440" tIns="45720" rIns="91440" bIns="45720" rtlCol="0" anchor="t">
            <a:spAutoFit/>
          </a:bodyPr>
          <a:lstStyle/>
          <a:p>
            <a:endParaRPr lang="en-US" sz="3400" dirty="0">
              <a:solidFill>
                <a:schemeClr val="bg1"/>
              </a:solidFill>
              <a:latin typeface="Lato" panose="020F0502020204030203" pitchFamily="34" charset="77"/>
            </a:endParaRPr>
          </a:p>
          <a:p>
            <a:r>
              <a:rPr lang="en-US" sz="3400" dirty="0">
                <a:solidFill>
                  <a:schemeClr val="bg1"/>
                </a:solidFill>
                <a:latin typeface="Lato"/>
                <a:ea typeface="Lato"/>
                <a:cs typeface="Lato"/>
              </a:rPr>
              <a:t>Mentor Name.      :  John </a:t>
            </a:r>
            <a:r>
              <a:rPr lang="en-US" sz="3400">
                <a:solidFill>
                  <a:schemeClr val="bg1"/>
                </a:solidFill>
                <a:latin typeface="Lato"/>
                <a:ea typeface="Lato"/>
                <a:cs typeface="Lato"/>
              </a:rPr>
              <a:t>Rachlin</a:t>
            </a:r>
            <a:endParaRPr lang="en-US" sz="3400" dirty="0">
              <a:solidFill>
                <a:schemeClr val="bg1"/>
              </a:solidFill>
              <a:latin typeface="Lato" panose="020F0502020204030203" pitchFamily="34" charset="77"/>
              <a:ea typeface="Lato"/>
              <a:cs typeface="Lato"/>
            </a:endParaRPr>
          </a:p>
          <a:p>
            <a:r>
              <a:rPr lang="en-US" sz="3400" dirty="0">
                <a:solidFill>
                  <a:schemeClr val="bg1"/>
                </a:solidFill>
                <a:latin typeface="Lato"/>
                <a:ea typeface="Lato"/>
                <a:cs typeface="Lato"/>
              </a:rPr>
              <a:t>Subject/Category : Natural Language Processing Framework</a:t>
            </a:r>
            <a:endParaRPr lang="en-US" sz="3400" dirty="0">
              <a:solidFill>
                <a:schemeClr val="bg1"/>
              </a:solidFill>
              <a:latin typeface="Lato" panose="020F0502020204030203" pitchFamily="34" charset="77"/>
              <a:ea typeface="Lato"/>
              <a:cs typeface="Lato"/>
            </a:endParaRPr>
          </a:p>
          <a:p>
            <a:r>
              <a:rPr lang="en-US" sz="3400" dirty="0">
                <a:solidFill>
                  <a:schemeClr val="bg1"/>
                </a:solidFill>
                <a:latin typeface="Lato"/>
                <a:ea typeface="Lato"/>
                <a:cs typeface="Lato"/>
              </a:rPr>
              <a:t>Class                      : DS 3500</a:t>
            </a:r>
            <a:r>
              <a:rPr lang="en-US" sz="3400">
                <a:solidFill>
                  <a:schemeClr val="bg1"/>
                </a:solidFill>
                <a:latin typeface="Lato"/>
                <a:ea typeface="Lato"/>
                <a:cs typeface="Lato"/>
              </a:rPr>
              <a:t> Advanced Programming with Data</a:t>
            </a:r>
            <a:br>
              <a:rPr lang="en-US" sz="3400" dirty="0">
                <a:latin typeface="Lato" panose="020F0502020204030203" pitchFamily="34" charset="77"/>
              </a:rPr>
            </a:br>
            <a:r>
              <a:rPr lang="en-US" sz="3400" dirty="0">
                <a:solidFill>
                  <a:schemeClr val="bg1"/>
                </a:solidFill>
                <a:latin typeface="Lato"/>
                <a:ea typeface="Lato"/>
                <a:cs typeface="Lato"/>
              </a:rPr>
              <a:t>Group #                 : </a:t>
            </a:r>
            <a:r>
              <a:rPr lang="en-US" sz="3400">
                <a:solidFill>
                  <a:schemeClr val="bg1"/>
                </a:solidFill>
                <a:latin typeface="Lato"/>
                <a:ea typeface="Lato"/>
                <a:cs typeface="Lato"/>
              </a:rPr>
              <a:t>35</a:t>
            </a:r>
            <a:br>
              <a:rPr lang="en-US" sz="3400" dirty="0">
                <a:latin typeface="Lato" panose="020F0502020204030203" pitchFamily="34" charset="77"/>
              </a:rPr>
            </a:br>
            <a:endParaRPr lang="en-US" sz="3400" dirty="0">
              <a:solidFill>
                <a:schemeClr val="bg1"/>
              </a:solidFill>
              <a:latin typeface="Lato" panose="020F0502020204030203" pitchFamily="34" charset="77"/>
            </a:endParaRPr>
          </a:p>
        </p:txBody>
      </p:sp>
      <p:sp>
        <p:nvSpPr>
          <p:cNvPr id="13" name="TextBox 12"/>
          <p:cNvSpPr txBox="1"/>
          <p:nvPr/>
        </p:nvSpPr>
        <p:spPr>
          <a:xfrm>
            <a:off x="1046322" y="6124725"/>
            <a:ext cx="14539259" cy="6801862"/>
          </a:xfrm>
          <a:prstGeom prst="rect">
            <a:avLst/>
          </a:prstGeom>
          <a:noFill/>
        </p:spPr>
        <p:txBody>
          <a:bodyPr wrap="square" lIns="91440" tIns="45720" rIns="91440" bIns="45720" rtlCol="0" anchor="t">
            <a:spAutoFit/>
          </a:bodyPr>
          <a:lstStyle/>
          <a:p>
            <a:r>
              <a:rPr lang="en-US" sz="6600" b="1">
                <a:latin typeface="Lato"/>
                <a:ea typeface="Lato"/>
                <a:cs typeface="Lato"/>
              </a:rPr>
              <a:t>Background, Motivation, and Goals</a:t>
            </a:r>
          </a:p>
          <a:p>
            <a:pPr marL="857250" indent="-857250">
              <a:buFont typeface="Arial"/>
              <a:buChar char="•"/>
            </a:pPr>
            <a:r>
              <a:rPr lang="en-US" sz="3700">
                <a:latin typeface="Lato"/>
                <a:ea typeface="Lato"/>
                <a:cs typeface="Lato"/>
              </a:rPr>
              <a:t>Short stories allow authors to create impactful narratives in short durations. As a result, the storyline is condensed and their word choice needs to be purposeful. </a:t>
            </a:r>
          </a:p>
          <a:p>
            <a:pPr marL="812800" lvl="1" indent="-812800">
              <a:buFont typeface="Arial"/>
              <a:buChar char="•"/>
            </a:pPr>
            <a:r>
              <a:rPr lang="en-US" sz="3700">
                <a:latin typeface="Lato"/>
                <a:ea typeface="Lato"/>
                <a:cs typeface="Lato"/>
              </a:rPr>
              <a:t>Our aim is to understand the diction, literary style, and underlying themes across famous short stories by popular authors.</a:t>
            </a:r>
            <a:endParaRPr lang="en-US" sz="3700">
              <a:latin typeface="Lato" panose="020F0502020204030203" pitchFamily="34" charset="77"/>
              <a:ea typeface="Lato"/>
              <a:cs typeface="Lato"/>
            </a:endParaRPr>
          </a:p>
          <a:p>
            <a:pPr marL="812800" lvl="1" indent="-812800">
              <a:buFont typeface="Arial"/>
              <a:buChar char="•"/>
            </a:pPr>
            <a:r>
              <a:rPr lang="en-US" sz="3700">
                <a:solidFill>
                  <a:srgbClr val="000000"/>
                </a:solidFill>
                <a:latin typeface="Lato"/>
                <a:ea typeface="Lato"/>
                <a:cs typeface="Lato"/>
              </a:rPr>
              <a:t>By uncovering common themes and narrative structures that transcend individual authors, we hope to gain a greater understanding into the nuances of literary works enables a deeper observation into the human experience and each work's cultural context.</a:t>
            </a:r>
          </a:p>
        </p:txBody>
      </p:sp>
      <p:sp>
        <p:nvSpPr>
          <p:cNvPr id="22" name="TextBox 21"/>
          <p:cNvSpPr txBox="1"/>
          <p:nvPr/>
        </p:nvSpPr>
        <p:spPr>
          <a:xfrm>
            <a:off x="1045549" y="13153488"/>
            <a:ext cx="10776404" cy="1107996"/>
          </a:xfrm>
          <a:prstGeom prst="rect">
            <a:avLst/>
          </a:prstGeom>
          <a:noFill/>
        </p:spPr>
        <p:txBody>
          <a:bodyPr wrap="square" lIns="91440" tIns="45720" rIns="91440" bIns="45720" rtlCol="0" anchor="t">
            <a:spAutoFit/>
          </a:bodyPr>
          <a:lstStyle/>
          <a:p>
            <a:r>
              <a:rPr lang="en-US" sz="6600" b="1">
                <a:latin typeface="Lato"/>
                <a:ea typeface="Lato"/>
                <a:cs typeface="Lato"/>
              </a:rPr>
              <a:t>Process and Methods</a:t>
            </a:r>
            <a:endParaRPr lang="en-US" sz="6600" b="1" dirty="0">
              <a:latin typeface="Lato" panose="020F0502020204030203" pitchFamily="34" charset="77"/>
            </a:endParaRPr>
          </a:p>
        </p:txBody>
      </p:sp>
      <p:sp>
        <p:nvSpPr>
          <p:cNvPr id="17" name="TextBox 16">
            <a:extLst>
              <a:ext uri="{FF2B5EF4-FFF2-40B4-BE49-F238E27FC236}">
                <a16:creationId xmlns:a16="http://schemas.microsoft.com/office/drawing/2014/main" id="{62554B99-80B6-EF73-4B5B-C066BAE59CA9}"/>
              </a:ext>
            </a:extLst>
          </p:cNvPr>
          <p:cNvSpPr txBox="1"/>
          <p:nvPr/>
        </p:nvSpPr>
        <p:spPr>
          <a:xfrm>
            <a:off x="19485465" y="30838139"/>
            <a:ext cx="22634689" cy="2554545"/>
          </a:xfrm>
          <a:prstGeom prst="rect">
            <a:avLst/>
          </a:prstGeom>
          <a:noFill/>
        </p:spPr>
        <p:txBody>
          <a:bodyPr wrap="square" lIns="91440" tIns="45720" rIns="91440" bIns="45720" rtlCol="0" anchor="t">
            <a:spAutoFit/>
          </a:bodyPr>
          <a:lstStyle/>
          <a:p>
            <a:r>
              <a:rPr lang="en-US" sz="3200" b="1" u="sng" dirty="0"/>
              <a:t>Author Contributions</a:t>
            </a:r>
          </a:p>
          <a:p>
            <a:r>
              <a:rPr lang="en-US" sz="3200" dirty="0">
                <a:latin typeface="Lato"/>
                <a:ea typeface="Lato"/>
                <a:cs typeface="Lato"/>
              </a:rPr>
              <a:t>Gabrielle: default parser, Sankey, documents   Zoe: custom parser, Sankey Desiree: preprocessor, custom parser, Sankey, Miguel: Word cloud, Sentiment Score</a:t>
            </a:r>
          </a:p>
          <a:p>
            <a:r>
              <a:rPr lang="en-US" sz="3200" dirty="0">
                <a:latin typeface="Lato"/>
                <a:ea typeface="Lato"/>
                <a:cs typeface="Lato"/>
              </a:rPr>
              <a:t>All authors contributed to the creation of this slide</a:t>
            </a:r>
          </a:p>
          <a:p>
            <a:endParaRPr lang="en-US" sz="3200" dirty="0">
              <a:ea typeface="Calibri"/>
              <a:cs typeface="Calibri"/>
            </a:endParaRPr>
          </a:p>
        </p:txBody>
      </p:sp>
      <p:sp>
        <p:nvSpPr>
          <p:cNvPr id="10" name="TextBox 9">
            <a:extLst>
              <a:ext uri="{FF2B5EF4-FFF2-40B4-BE49-F238E27FC236}">
                <a16:creationId xmlns:a16="http://schemas.microsoft.com/office/drawing/2014/main" id="{108BB1FD-D671-DFD4-9FCA-89D4EE35A4FF}"/>
              </a:ext>
            </a:extLst>
          </p:cNvPr>
          <p:cNvSpPr txBox="1"/>
          <p:nvPr/>
        </p:nvSpPr>
        <p:spPr>
          <a:xfrm>
            <a:off x="795906" y="25004498"/>
            <a:ext cx="1619668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Figure 1. Word Cloud </a:t>
            </a:r>
          </a:p>
          <a:p>
            <a:r>
              <a:rPr lang="en-US" sz="3200">
                <a:ea typeface="Calibri"/>
                <a:cs typeface="Calibri"/>
              </a:rPr>
              <a:t>Shows the most frequent words in scale from largest to smallest in a blob. Subplots were created across each story. The most frequent words being: </a:t>
            </a:r>
          </a:p>
        </p:txBody>
      </p:sp>
      <p:sp>
        <p:nvSpPr>
          <p:cNvPr id="18" name="TextBox 17">
            <a:extLst>
              <a:ext uri="{FF2B5EF4-FFF2-40B4-BE49-F238E27FC236}">
                <a16:creationId xmlns:a16="http://schemas.microsoft.com/office/drawing/2014/main" id="{81C56723-0161-9056-18AA-432467967798}"/>
              </a:ext>
            </a:extLst>
          </p:cNvPr>
          <p:cNvSpPr txBox="1"/>
          <p:nvPr/>
        </p:nvSpPr>
        <p:spPr>
          <a:xfrm>
            <a:off x="36656367" y="19601855"/>
            <a:ext cx="4822883" cy="84638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Figure 3. </a:t>
            </a:r>
            <a:endParaRPr lang="en-US" dirty="0"/>
          </a:p>
          <a:p>
            <a:r>
              <a:rPr lang="en-US" sz="4000" dirty="0">
                <a:ea typeface="Calibri"/>
                <a:cs typeface="Calibri"/>
              </a:rPr>
              <a:t>Sentiment Analysis</a:t>
            </a:r>
            <a:endParaRPr lang="en-US" dirty="0"/>
          </a:p>
          <a:p>
            <a:r>
              <a:rPr lang="en-US" sz="4000" dirty="0">
                <a:ea typeface="+mn-lt"/>
                <a:cs typeface="+mn-lt"/>
              </a:rPr>
              <a:t>The NLTK library was used to calculate the sentiment scores, which measure how positive and negative the language is. Each score was averaged in their respective short story and compared with scores of other stories </a:t>
            </a:r>
          </a:p>
          <a:p>
            <a:endParaRPr lang="en-US" sz="2400" dirty="0">
              <a:ea typeface="Calibri"/>
              <a:cs typeface="Calibri"/>
            </a:endParaRPr>
          </a:p>
        </p:txBody>
      </p:sp>
      <p:sp>
        <p:nvSpPr>
          <p:cNvPr id="12" name="TextBox 11"/>
          <p:cNvSpPr txBox="1"/>
          <p:nvPr/>
        </p:nvSpPr>
        <p:spPr>
          <a:xfrm>
            <a:off x="1825625" y="3267448"/>
            <a:ext cx="38262427" cy="2245358"/>
          </a:xfrm>
          <a:prstGeom prst="rect">
            <a:avLst/>
          </a:prstGeom>
          <a:noFill/>
        </p:spPr>
        <p:txBody>
          <a:bodyPr wrap="square" lIns="91440" tIns="45720" rIns="91440" bIns="45720" rtlCol="0" anchor="t">
            <a:spAutoFit/>
          </a:bodyPr>
          <a:lstStyle/>
          <a:p>
            <a:pPr algn="ctr"/>
            <a:r>
              <a:rPr lang="en-US" sz="8200" b="1" dirty="0" err="1">
                <a:latin typeface="Lato"/>
                <a:ea typeface="Lato"/>
                <a:cs typeface="Lato"/>
              </a:rPr>
              <a:t>Textastic</a:t>
            </a:r>
            <a:r>
              <a:rPr lang="en-US" sz="8200" b="1" dirty="0">
                <a:latin typeface="Lato"/>
                <a:ea typeface="Lato"/>
                <a:cs typeface="Lato"/>
              </a:rPr>
              <a:t> Tales: Comparative Short Story Analysis</a:t>
            </a:r>
            <a:endParaRPr lang="en-US" sz="8241" b="1" dirty="0">
              <a:latin typeface="Lato" panose="020F0502020204030203" pitchFamily="34" charset="77"/>
            </a:endParaRPr>
          </a:p>
          <a:p>
            <a:pPr algn="ctr"/>
            <a:r>
              <a:rPr lang="en-US" sz="5750" dirty="0">
                <a:latin typeface="Lato"/>
                <a:ea typeface="Lato"/>
                <a:cs typeface="Lato"/>
              </a:rPr>
              <a:t>Gabrielle </a:t>
            </a:r>
            <a:r>
              <a:rPr lang="en-US" sz="5750" dirty="0" err="1">
                <a:latin typeface="Lato"/>
                <a:ea typeface="Lato"/>
                <a:cs typeface="Lato"/>
              </a:rPr>
              <a:t>Bambalan</a:t>
            </a:r>
            <a:r>
              <a:rPr lang="en-US" sz="5750" dirty="0">
                <a:latin typeface="Lato"/>
                <a:ea typeface="Lato"/>
                <a:cs typeface="Lato"/>
              </a:rPr>
              <a:t>, Zoe Chapman, Desiree DeGennaro, Miguel Gonzales</a:t>
            </a:r>
            <a:endParaRPr lang="en-US" sz="8241" dirty="0">
              <a:latin typeface="Lato"/>
              <a:ea typeface="Lato"/>
              <a:cs typeface="Lato"/>
            </a:endParaRPr>
          </a:p>
        </p:txBody>
      </p:sp>
      <p:sp>
        <p:nvSpPr>
          <p:cNvPr id="16" name="TextBox 15">
            <a:extLst>
              <a:ext uri="{FF2B5EF4-FFF2-40B4-BE49-F238E27FC236}">
                <a16:creationId xmlns:a16="http://schemas.microsoft.com/office/drawing/2014/main" id="{9B20E5DB-7795-79FF-ADC6-1DA44C289383}"/>
              </a:ext>
            </a:extLst>
          </p:cNvPr>
          <p:cNvSpPr txBox="1"/>
          <p:nvPr/>
        </p:nvSpPr>
        <p:spPr>
          <a:xfrm>
            <a:off x="18192765" y="16458518"/>
            <a:ext cx="19033208" cy="1938992"/>
          </a:xfrm>
          <a:prstGeom prst="rect">
            <a:avLst/>
          </a:prstGeom>
          <a:noFill/>
        </p:spPr>
        <p:txBody>
          <a:bodyPr wrap="square" lIns="91440" tIns="45720" rIns="91440" bIns="45720" rtlCol="0" anchor="t">
            <a:spAutoFit/>
          </a:bodyPr>
          <a:lstStyle/>
          <a:p>
            <a:r>
              <a:rPr lang="en-US" sz="4000" dirty="0">
                <a:ea typeface="Calibri"/>
                <a:cs typeface="Calibri"/>
              </a:rPr>
              <a:t>Figure 2. Sankey Diagram</a:t>
            </a:r>
          </a:p>
          <a:p>
            <a:r>
              <a:rPr lang="en-US" sz="4000" dirty="0">
                <a:ea typeface="+mn-lt"/>
                <a:cs typeface="+mn-lt"/>
              </a:rPr>
              <a:t>Visualizes flow from short story titles (sources) to the most common words between them (targets) with a flow size (value) that represents each word count.</a:t>
            </a:r>
            <a:endParaRPr lang="en-US" dirty="0"/>
          </a:p>
        </p:txBody>
      </p:sp>
      <p:pic>
        <p:nvPicPr>
          <p:cNvPr id="19" name="Picture 18" descr="The Natural Language Toolkit — What is it? | by Kelsey Lane | Medium">
            <a:extLst>
              <a:ext uri="{FF2B5EF4-FFF2-40B4-BE49-F238E27FC236}">
                <a16:creationId xmlns:a16="http://schemas.microsoft.com/office/drawing/2014/main" id="{F3D4B30B-2A0E-23AC-E224-17A0A3F52F07}"/>
              </a:ext>
            </a:extLst>
          </p:cNvPr>
          <p:cNvPicPr>
            <a:picLocks noChangeAspect="1"/>
          </p:cNvPicPr>
          <p:nvPr/>
        </p:nvPicPr>
        <p:blipFill>
          <a:blip r:embed="rId2"/>
          <a:stretch>
            <a:fillRect/>
          </a:stretch>
        </p:blipFill>
        <p:spPr>
          <a:xfrm>
            <a:off x="3735316" y="14049570"/>
            <a:ext cx="2053086" cy="2225032"/>
          </a:xfrm>
          <a:prstGeom prst="rect">
            <a:avLst/>
          </a:prstGeom>
          <a:ln>
            <a:noFill/>
          </a:ln>
        </p:spPr>
      </p:pic>
      <p:pic>
        <p:nvPicPr>
          <p:cNvPr id="20" name="Picture 19" descr="Introduction - PyMuPDF 1.24.0 documentation">
            <a:extLst>
              <a:ext uri="{FF2B5EF4-FFF2-40B4-BE49-F238E27FC236}">
                <a16:creationId xmlns:a16="http://schemas.microsoft.com/office/drawing/2014/main" id="{E7DF3663-E868-72CC-DDD1-9F896D3AF276}"/>
              </a:ext>
            </a:extLst>
          </p:cNvPr>
          <p:cNvPicPr>
            <a:picLocks noChangeAspect="1"/>
          </p:cNvPicPr>
          <p:nvPr/>
        </p:nvPicPr>
        <p:blipFill rotWithShape="1">
          <a:blip r:embed="rId3"/>
          <a:srcRect l="641" t="-251" r="-2095" b="-11411"/>
          <a:stretch/>
        </p:blipFill>
        <p:spPr>
          <a:xfrm>
            <a:off x="1074518" y="14279555"/>
            <a:ext cx="2114111" cy="2273540"/>
          </a:xfrm>
          <a:prstGeom prst="rect">
            <a:avLst/>
          </a:prstGeom>
          <a:ln>
            <a:noFill/>
          </a:ln>
        </p:spPr>
      </p:pic>
      <p:sp>
        <p:nvSpPr>
          <p:cNvPr id="25" name="TextBox 24"/>
          <p:cNvSpPr txBox="1"/>
          <p:nvPr/>
        </p:nvSpPr>
        <p:spPr>
          <a:xfrm>
            <a:off x="785788" y="26570671"/>
            <a:ext cx="18216165" cy="6555641"/>
          </a:xfrm>
          <a:prstGeom prst="rect">
            <a:avLst/>
          </a:prstGeom>
          <a:noFill/>
        </p:spPr>
        <p:txBody>
          <a:bodyPr wrap="square" lIns="91440" tIns="45720" rIns="91440" bIns="45720" rtlCol="0" anchor="t">
            <a:spAutoFit/>
          </a:bodyPr>
          <a:lstStyle/>
          <a:p>
            <a:r>
              <a:rPr lang="en-US" sz="6600" b="1" dirty="0"/>
              <a:t>Conclusion and Next Steps</a:t>
            </a:r>
            <a:endParaRPr lang="en-US" sz="6600" b="1" dirty="0">
              <a:solidFill>
                <a:srgbClr val="000000"/>
              </a:solidFill>
            </a:endParaRPr>
          </a:p>
          <a:p>
            <a:pPr marL="812800" lvl="1" indent="-812800">
              <a:buFont typeface="Arial"/>
              <a:buChar char="•"/>
            </a:pPr>
            <a:r>
              <a:rPr lang="en-US" sz="3600" dirty="0">
                <a:ea typeface="Calibri"/>
                <a:cs typeface="Calibri"/>
              </a:rPr>
              <a:t>The feasibility of using computational methods to analyze and compare literary works to identify common tones and themes provided valuable insights into the literary landscape of the range of short stories being compared.</a:t>
            </a:r>
            <a:endParaRPr lang="en-US" dirty="0"/>
          </a:p>
          <a:p>
            <a:pPr marL="812800" lvl="1" indent="-812800">
              <a:buFont typeface="Arial"/>
              <a:buChar char="•"/>
            </a:pPr>
            <a:r>
              <a:rPr lang="en-US" sz="3600" dirty="0">
                <a:ea typeface="+mn-lt"/>
                <a:cs typeface="+mn-lt"/>
              </a:rPr>
              <a:t>The framework can be extended to detect genres or the evolution of language.</a:t>
            </a:r>
            <a:endParaRPr lang="en-US" sz="3600" dirty="0">
              <a:ea typeface="Calibri"/>
              <a:cs typeface="Calibri"/>
            </a:endParaRPr>
          </a:p>
          <a:p>
            <a:pPr marL="812800" lvl="1" indent="-812800">
              <a:buFont typeface="Arial"/>
              <a:buChar char="•"/>
            </a:pPr>
            <a:r>
              <a:rPr lang="en-US" sz="3600" dirty="0">
                <a:ea typeface="Calibri"/>
                <a:cs typeface="Calibri"/>
              </a:rPr>
              <a:t>Expanding the dataset used, refining the preprocessing techniques, and exploring more advanced natural language processing techniques would increase efficiency and accuracy of the analysis, allowing for deeper insights into the interpretations of different pieces from different genres and time periods to explore implications for literary theory.</a:t>
            </a:r>
          </a:p>
          <a:p>
            <a:pPr marL="812800" lvl="1" indent="-812800">
              <a:buFont typeface="Arial"/>
              <a:buChar char="•"/>
            </a:pPr>
            <a:endParaRPr lang="en-US" sz="6600" dirty="0"/>
          </a:p>
        </p:txBody>
      </p:sp>
      <p:pic>
        <p:nvPicPr>
          <p:cNvPr id="2" name="Picture 1" descr="File:Plotly logo for digital final (6).png - Wikipedia">
            <a:extLst>
              <a:ext uri="{FF2B5EF4-FFF2-40B4-BE49-F238E27FC236}">
                <a16:creationId xmlns:a16="http://schemas.microsoft.com/office/drawing/2014/main" id="{B5F40C69-AA1E-1C5A-7F84-083A3F193251}"/>
              </a:ext>
            </a:extLst>
          </p:cNvPr>
          <p:cNvPicPr>
            <a:picLocks noChangeAspect="1"/>
          </p:cNvPicPr>
          <p:nvPr/>
        </p:nvPicPr>
        <p:blipFill>
          <a:blip r:embed="rId4"/>
          <a:stretch>
            <a:fillRect/>
          </a:stretch>
        </p:blipFill>
        <p:spPr>
          <a:xfrm>
            <a:off x="6443932" y="14046253"/>
            <a:ext cx="2743199" cy="2057400"/>
          </a:xfrm>
          <a:prstGeom prst="rect">
            <a:avLst/>
          </a:prstGeom>
        </p:spPr>
      </p:pic>
      <p:pic>
        <p:nvPicPr>
          <p:cNvPr id="3" name="Picture 2" descr="Matplotlib — Pythia Foundations">
            <a:extLst>
              <a:ext uri="{FF2B5EF4-FFF2-40B4-BE49-F238E27FC236}">
                <a16:creationId xmlns:a16="http://schemas.microsoft.com/office/drawing/2014/main" id="{58CBAC87-5187-18BC-CD1F-09ADF5A172F1}"/>
              </a:ext>
            </a:extLst>
          </p:cNvPr>
          <p:cNvPicPr>
            <a:picLocks noChangeAspect="1"/>
          </p:cNvPicPr>
          <p:nvPr/>
        </p:nvPicPr>
        <p:blipFill>
          <a:blip r:embed="rId5"/>
          <a:stretch>
            <a:fillRect/>
          </a:stretch>
        </p:blipFill>
        <p:spPr>
          <a:xfrm>
            <a:off x="9889958" y="14896886"/>
            <a:ext cx="2743200" cy="548640"/>
          </a:xfrm>
          <a:prstGeom prst="rect">
            <a:avLst/>
          </a:prstGeom>
        </p:spPr>
      </p:pic>
      <p:pic>
        <p:nvPicPr>
          <p:cNvPr id="33" name="Picture 32" descr="A group of words in different colors&#10;&#10;Description automatically generated">
            <a:extLst>
              <a:ext uri="{FF2B5EF4-FFF2-40B4-BE49-F238E27FC236}">
                <a16:creationId xmlns:a16="http://schemas.microsoft.com/office/drawing/2014/main" id="{632A877F-8750-4569-26F2-E963C5AEA264}"/>
              </a:ext>
            </a:extLst>
          </p:cNvPr>
          <p:cNvPicPr>
            <a:picLocks noChangeAspect="1"/>
          </p:cNvPicPr>
          <p:nvPr/>
        </p:nvPicPr>
        <p:blipFill rotWithShape="1">
          <a:blip r:embed="rId6">
            <a:extLst>
              <a:ext uri="{28A0092B-C50C-407E-A947-70E740481C1C}">
                <a14:useLocalDpi xmlns:a14="http://schemas.microsoft.com/office/drawing/2010/main" val="0"/>
              </a:ext>
            </a:extLst>
          </a:blip>
          <a:srcRect t="6461" b="10213"/>
          <a:stretch/>
        </p:blipFill>
        <p:spPr>
          <a:xfrm>
            <a:off x="268057" y="16553095"/>
            <a:ext cx="17744262" cy="7885604"/>
          </a:xfrm>
          <a:prstGeom prst="rect">
            <a:avLst/>
          </a:prstGeom>
        </p:spPr>
      </p:pic>
      <p:pic>
        <p:nvPicPr>
          <p:cNvPr id="41" name="Picture 40" descr="A grey and white lines&#10;&#10;Description automatically generated with medium confidence">
            <a:extLst>
              <a:ext uri="{FF2B5EF4-FFF2-40B4-BE49-F238E27FC236}">
                <a16:creationId xmlns:a16="http://schemas.microsoft.com/office/drawing/2014/main" id="{F60EA129-E4D4-CCAD-1592-27C699DB538F}"/>
              </a:ext>
            </a:extLst>
          </p:cNvPr>
          <p:cNvPicPr>
            <a:picLocks noChangeAspect="1"/>
          </p:cNvPicPr>
          <p:nvPr/>
        </p:nvPicPr>
        <p:blipFill rotWithShape="1">
          <a:blip r:embed="rId7">
            <a:extLst>
              <a:ext uri="{28A0092B-C50C-407E-A947-70E740481C1C}">
                <a14:useLocalDpi xmlns:a14="http://schemas.microsoft.com/office/drawing/2010/main" val="0"/>
              </a:ext>
            </a:extLst>
          </a:blip>
          <a:srcRect l="4939" t="15745" r="4073" b="11553"/>
          <a:stretch/>
        </p:blipFill>
        <p:spPr>
          <a:xfrm>
            <a:off x="15447436" y="6059864"/>
            <a:ext cx="26614964" cy="9851596"/>
          </a:xfrm>
          <a:prstGeom prst="rect">
            <a:avLst/>
          </a:prstGeom>
        </p:spPr>
      </p:pic>
      <p:pic>
        <p:nvPicPr>
          <p:cNvPr id="6" name="Picture 5" descr="A screenshot of a graph&#10;&#10;Description automatically generated">
            <a:extLst>
              <a:ext uri="{FF2B5EF4-FFF2-40B4-BE49-F238E27FC236}">
                <a16:creationId xmlns:a16="http://schemas.microsoft.com/office/drawing/2014/main" id="{5DB3E55B-7EA1-3329-8C7F-9947D935C7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022437" y="18597388"/>
            <a:ext cx="18414671" cy="11692112"/>
          </a:xfrm>
          <a:prstGeom prst="rect">
            <a:avLst/>
          </a:prstGeom>
        </p:spPr>
      </p:pic>
    </p:spTree>
    <p:extLst>
      <p:ext uri="{BB962C8B-B14F-4D97-AF65-F5344CB8AC3E}">
        <p14:creationId xmlns:p14="http://schemas.microsoft.com/office/powerpoint/2010/main" val="306476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2dca7a2-8d43-4972-a416-f830293428e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27B415BD92AB48946C4EEDBDB6543F" ma:contentTypeVersion="16" ma:contentTypeDescription="Create a new document." ma:contentTypeScope="" ma:versionID="97a89c5d62c4cbd9f55d531cfcb98619">
  <xsd:schema xmlns:xsd="http://www.w3.org/2001/XMLSchema" xmlns:xs="http://www.w3.org/2001/XMLSchema" xmlns:p="http://schemas.microsoft.com/office/2006/metadata/properties" xmlns:ns3="e2dca7a2-8d43-4972-a416-f830293428ee" xmlns:ns4="153d3da2-b584-422a-a31b-8adf3543e0eb" targetNamespace="http://schemas.microsoft.com/office/2006/metadata/properties" ma:root="true" ma:fieldsID="db12f744f1449b43733a929ef6069d16" ns3:_="" ns4:_="">
    <xsd:import namespace="e2dca7a2-8d43-4972-a416-f830293428ee"/>
    <xsd:import namespace="153d3da2-b584-422a-a31b-8adf3543e0eb"/>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dca7a2-8d43-4972-a416-f830293428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53d3da2-b584-422a-a31b-8adf3543e0e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B731D7-F5BF-4D0E-BEA0-A10CED407C8E}">
  <ds:schemaRefs>
    <ds:schemaRef ds:uri="http://schemas.microsoft.com/sharepoint/v3/contenttype/forms"/>
  </ds:schemaRefs>
</ds:datastoreItem>
</file>

<file path=customXml/itemProps2.xml><?xml version="1.0" encoding="utf-8"?>
<ds:datastoreItem xmlns:ds="http://schemas.openxmlformats.org/officeDocument/2006/customXml" ds:itemID="{EA5F3152-1B22-4120-90AD-ABECC3E883B9}">
  <ds:schemaRefs>
    <ds:schemaRef ds:uri="153d3da2-b584-422a-a31b-8adf3543e0eb"/>
    <ds:schemaRef ds:uri="http://schemas.microsoft.com/office/2006/metadata/properties"/>
    <ds:schemaRef ds:uri="http://purl.org/dc/terms/"/>
    <ds:schemaRef ds:uri="http://purl.org/dc/elements/1.1/"/>
    <ds:schemaRef ds:uri="http://schemas.microsoft.com/office/2006/documentManagement/types"/>
    <ds:schemaRef ds:uri="http://www.w3.org/XML/1998/namespace"/>
    <ds:schemaRef ds:uri="e2dca7a2-8d43-4972-a416-f830293428ee"/>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4CDB8621-113A-46F3-8C33-E5E60320A28D}">
  <ds:schemaRefs>
    <ds:schemaRef ds:uri="153d3da2-b584-422a-a31b-8adf3543e0eb"/>
    <ds:schemaRef ds:uri="e2dca7a2-8d43-4972-a416-f830293428ee"/>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554</TotalTime>
  <Words>400</Words>
  <Application>Microsoft Office PowerPoint</Application>
  <PresentationFormat>Custom</PresentationFormat>
  <Paragraphs>25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Lato</vt:lpstr>
      <vt:lpstr>Office Theme</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Todor Kiryazov</dc:creator>
  <cp:lastModifiedBy>Iggy .</cp:lastModifiedBy>
  <cp:revision>6</cp:revision>
  <dcterms:created xsi:type="dcterms:W3CDTF">2012-02-02T18:01:45Z</dcterms:created>
  <dcterms:modified xsi:type="dcterms:W3CDTF">2024-04-10T03:55:48Z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0x0101004F27B415BD92AB48946C4EEDBDB6543F</vt:lpwstr>
  </property>
  <property fmtid="{D5CDD505-2E9C-101B-9397-08002B2CF9AE}" pid="3" name="MediaServiceImageTags">
    <vt:lpwstr/>
  </property>
</Properties>
</file>